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96" y="2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300</c:v>
                </c:pt>
                <c:pt idx="2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1876736"/>
        <c:axId val="209980416"/>
      </c:barChart>
      <c:catAx>
        <c:axId val="151876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980416"/>
        <c:crosses val="autoZero"/>
        <c:auto val="1"/>
        <c:lblAlgn val="ctr"/>
        <c:lblOffset val="100"/>
        <c:noMultiLvlLbl val="1"/>
      </c:catAx>
      <c:valAx>
        <c:axId val="20998041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51876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Mpumalanga</c:v>
                </c:pt>
                <c:pt idx="3">
                  <c:v>KwaZulu-Natal</c:v>
                </c:pt>
                <c:pt idx="4">
                  <c:v>Eastern Cape</c:v>
                </c:pt>
                <c:pt idx="5">
                  <c:v>Limpopo</c:v>
                </c:pt>
                <c:pt idx="6">
                  <c:v>North West</c:v>
                </c:pt>
                <c:pt idx="7">
                  <c:v>Free State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350</c:v>
                </c:pt>
                <c:pt idx="1">
                  <c:v>180</c:v>
                </c:pt>
                <c:pt idx="2">
                  <c:v>110</c:v>
                </c:pt>
                <c:pt idx="3">
                  <c:v>100</c:v>
                </c:pt>
                <c:pt idx="4">
                  <c:v>50</c:v>
                </c:pt>
                <c:pt idx="5">
                  <c:v>50</c:v>
                </c:pt>
                <c:pt idx="6">
                  <c:v>30</c:v>
                </c:pt>
                <c:pt idx="7">
                  <c:v>30</c:v>
                </c:pt>
                <c:pt idx="8">
                  <c:v>70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5275648"/>
        <c:axId val="155278336"/>
      </c:barChart>
      <c:catAx>
        <c:axId val="1552756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155278336"/>
        <c:crosses val="autoZero"/>
        <c:auto val="1"/>
        <c:lblAlgn val="ctr"/>
        <c:lblOffset val="100"/>
        <c:noMultiLvlLbl val="1"/>
      </c:catAx>
      <c:valAx>
        <c:axId val="155278336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55275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ICC Cricket World Cup</c:v>
                </c:pt>
                <c:pt idx="1">
                  <c:v>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Africa Magic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150</c:v>
                </c:pt>
                <c:pt idx="2">
                  <c:v>120</c:v>
                </c:pt>
                <c:pt idx="3">
                  <c:v>100</c:v>
                </c:pt>
                <c:pt idx="4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4218368"/>
        <c:axId val="164229504"/>
      </c:barChart>
      <c:catAx>
        <c:axId val="1642183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164229504"/>
        <c:crosses val="autoZero"/>
        <c:auto val="1"/>
        <c:lblAlgn val="ctr"/>
        <c:lblOffset val="100"/>
        <c:noMultiLvlLbl val="1"/>
      </c:catAx>
      <c:valAx>
        <c:axId val="16422950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64218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 Groups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</c:dPt>
          <c:cat>
            <c:strRef>
              <c:f>Sheet1!$A$2:$A$7</c:f>
              <c:strCache>
                <c:ptCount val="6"/>
                <c:pt idx="0">
                  <c:v>Young Adult</c:v>
                </c:pt>
                <c:pt idx="1">
                  <c:v>Adult</c:v>
                </c:pt>
                <c:pt idx="2">
                  <c:v>Teenager</c:v>
                </c:pt>
                <c:pt idx="3">
                  <c:v>Middle-Aged</c:v>
                </c:pt>
                <c:pt idx="4">
                  <c:v>Kids</c:v>
                </c:pt>
                <c:pt idx="5">
                  <c:v>Senior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550</c:v>
                </c:pt>
                <c:pt idx="1">
                  <c:v>350</c:v>
                </c:pt>
                <c:pt idx="2">
                  <c:v>75</c:v>
                </c:pt>
                <c:pt idx="3">
                  <c:v>60</c:v>
                </c:pt>
                <c:pt idx="4">
                  <c:v>60</c:v>
                </c:pt>
                <c:pt idx="5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ZA" sz="1400" b="0" i="0" u="none" strike="noStrike">
                <a:solidFill>
                  <a:srgbClr val="0F172A"/>
                </a:solidFill>
                <a:latin typeface="Arial"/>
              </a:rPr>
              <a:t>Gender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EC4899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864</c:v>
                </c:pt>
                <c:pt idx="1">
                  <c:v>106</c:v>
                </c:pt>
                <c:pt idx="2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ZA" sz="1400" b="0" i="0" u="none" strike="noStrike">
                <a:solidFill>
                  <a:srgbClr val="0F172A"/>
                </a:solidFill>
                <a:latin typeface="Arial"/>
              </a:rPr>
              <a:t>Ethnicity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Ethnicity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Indian/Asian</c:v>
                </c:pt>
                <c:pt idx="3">
                  <c:v>Unknown</c:v>
                </c:pt>
                <c:pt idx="4">
                  <c:v>White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415</c:v>
                </c:pt>
                <c:pt idx="1">
                  <c:v>179</c:v>
                </c:pt>
                <c:pt idx="2">
                  <c:v>165</c:v>
                </c:pt>
                <c:pt idx="3">
                  <c:v>121</c:v>
                </c:pt>
                <c:pt idx="4">
                  <c:v>120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4405632"/>
        <c:axId val="164408320"/>
      </c:barChart>
      <c:catAx>
        <c:axId val="164405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164408320"/>
        <c:crosses val="autoZero"/>
        <c:auto val="1"/>
        <c:lblAlgn val="ctr"/>
        <c:lblOffset val="100"/>
        <c:noMultiLvlLbl val="1"/>
      </c:catAx>
      <c:valAx>
        <c:axId val="16440832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64405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ZA" sz="1400" b="0" i="0" u="none" strike="noStrike">
                <a:solidFill>
                  <a:srgbClr val="0F172A"/>
                </a:solidFill>
                <a:latin typeface="Arial"/>
              </a:rPr>
              <a:t>By Time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Evening</c:v>
                </c:pt>
                <c:pt idx="1">
                  <c:v>Morning</c:v>
                </c:pt>
                <c:pt idx="2">
                  <c:v>Afternoon</c:v>
                </c:pt>
                <c:pt idx="3">
                  <c:v>Midnight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</c:v>
                </c:pt>
                <c:pt idx="1">
                  <c:v>290</c:v>
                </c:pt>
                <c:pt idx="2">
                  <c:v>280</c:v>
                </c:pt>
                <c:pt idx="3">
                  <c:v>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4725504"/>
        <c:axId val="164728192"/>
      </c:barChart>
      <c:catAx>
        <c:axId val="164725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164728192"/>
        <c:crosses val="autoZero"/>
        <c:auto val="1"/>
        <c:lblAlgn val="ctr"/>
        <c:lblOffset val="100"/>
        <c:noMultiLvlLbl val="1"/>
      </c:catAx>
      <c:valAx>
        <c:axId val="16472819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64725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ZA" sz="1400" b="0" i="0" u="none" strike="noStrike">
                <a:solidFill>
                  <a:srgbClr val="0F172A"/>
                </a:solidFill>
                <a:latin typeface="Arial"/>
              </a:rPr>
              <a:t>By Day of Week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ln w="508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110</c:v>
                </c:pt>
                <c:pt idx="1">
                  <c:v>120</c:v>
                </c:pt>
                <c:pt idx="2">
                  <c:v>160</c:v>
                </c:pt>
                <c:pt idx="3">
                  <c:v>145</c:v>
                </c:pt>
                <c:pt idx="4">
                  <c:v>142</c:v>
                </c:pt>
                <c:pt idx="5">
                  <c:v>180</c:v>
                </c:pt>
                <c:pt idx="6">
                  <c:v>130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4435840"/>
        <c:axId val="164483840"/>
      </c:lineChart>
      <c:catAx>
        <c:axId val="164435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164483840"/>
        <c:crosses val="autoZero"/>
        <c:auto val="1"/>
        <c:lblAlgn val="ctr"/>
        <c:lblOffset val="100"/>
        <c:noMultiLvlLbl val="1"/>
      </c:catAx>
      <c:valAx>
        <c:axId val="16448384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64435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1B282-527D-46D0-A264-0553FA10C9E0}" type="datetimeFigureOut">
              <a:rPr lang="en-ZA" smtClean="0"/>
              <a:t>2026/07/18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12DDB-1B7A-4F69-A04F-DD2FD6EF75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9436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F172A">
              <a:alpha val="65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486400" cy="5148072"/>
          </a:xfrm>
          <a:prstGeom prst="rect">
            <a:avLst/>
          </a:prstGeom>
          <a:solidFill>
            <a:srgbClr val="1E3A5F">
              <a:alpha val="7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0058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005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ANALYTICS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BrightTV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731520" y="2606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Viewership Analysis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31520" y="33832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viewing behaviour, content consumption trends, and growth opportunities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 •  Phathutshedzo Mpfumali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3716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viewing behaviour to identify content consumption trends.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63040"/>
            <a:ext cx="26517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4612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actionable insights that support BrightTV's growth strategy.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63040"/>
            <a:ext cx="26517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03504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31546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customer engagement and expand the subscription base.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Databricks SQL  •  </a:t>
            </a:r>
            <a:r>
              <a:rPr lang="en-US" sz="1300" i="1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•  </a:t>
            </a:r>
            <a:r>
              <a:rPr lang="en-US" sz="1300" i="1" dirty="0" smtClean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Studio</a:t>
            </a: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 </a:t>
            </a:r>
            <a:r>
              <a:rPr lang="en-US" sz="1300" i="1" dirty="0" smtClean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 </a:t>
            </a:r>
            <a:r>
              <a:rPr lang="en-US" sz="1300" i="1" dirty="0" smtClean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Pivot tables</a:t>
            </a: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 </a:t>
            </a:r>
            <a:r>
              <a:rPr lang="en-US" sz="1300" i="1" dirty="0" smtClean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</a:t>
            </a: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 </a:t>
            </a:r>
            <a:r>
              <a:rPr lang="en-US" sz="1300" i="1" dirty="0" err="1" smtClean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371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9 995</a:t>
            </a:r>
            <a:r>
              <a:rPr lang="en-US" sz="30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Subscribers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Gauteng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Province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Young Adult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Age Group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Events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2880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Channel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2926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1772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Channels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Viewership grew steadily Jan–Mar. Live Events and sports drove the highest engagement.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3716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Subscriber Trend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463040"/>
            <a:ext cx="2423160" cy="3108960"/>
          </a:xfrm>
          <a:prstGeom prst="roundRect">
            <a:avLst>
              <a:gd name="adj" fmla="val 452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6916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+150%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63640" y="2514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2971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upward momentum from January to March.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371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Viewership by Region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371600"/>
          <a:ext cx="4937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371600"/>
            <a:ext cx="3200400" cy="1828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0" y="329184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2356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Gauteng leads with 35%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623560" y="37947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double the next largest province — a clear geographic concentration.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3716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Most Watched Channels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371600"/>
          <a:ext cx="4937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371600"/>
            <a:ext cx="3200400" cy="1828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0" y="329184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2356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Sports Dominate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623560" y="37947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two channels are event-driven, showing strong demand for live programming.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371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Distribution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71600"/>
          <a:ext cx="4206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371600"/>
            <a:ext cx="3840480" cy="1828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46320" y="329184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98348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Adults Lead — 55%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9834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Adults + Adults represent 90% of total viewership.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3716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Composition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71600"/>
          <a:ext cx="3931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480560" y="137160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371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Behaviour Patterns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7160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37160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Evenings dominate viewing  •  Saturdays are peak weekly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3716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Recommendations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Events received the most views.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 Cricket World Cup generated the highest watch time.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Adults are the largest audience segment.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Gauteng has the highest viewership.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Viewership grew steadily January to March.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4023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premium content in peak evening hours.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Live Events and sports channels aggressively.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marketing on Young Adults in Gauteng.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advertising in low-performing regions.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female-focused content to broaden reach.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8288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Shape 4"/>
          <p:cNvSpPr/>
          <p:nvPr/>
        </p:nvSpPr>
        <p:spPr>
          <a:xfrm>
            <a:off x="4114800" y="2880360"/>
            <a:ext cx="914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•  Viewership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317</Words>
  <Application>Microsoft Office PowerPoint</Application>
  <PresentationFormat>On-screen Show (16:9)</PresentationFormat>
  <Paragraphs>77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Analysis</dc:title>
  <dc:subject>PptxGenJS Presentation</dc:subject>
  <dc:creator>BrightTV Analytics</dc:creator>
  <cp:lastModifiedBy>Phathutshedzo Mpfumali</cp:lastModifiedBy>
  <cp:revision>3</cp:revision>
  <dcterms:created xsi:type="dcterms:W3CDTF">2026-07-16T19:53:16Z</dcterms:created>
  <dcterms:modified xsi:type="dcterms:W3CDTF">2026-07-18T13:47:46Z</dcterms:modified>
</cp:coreProperties>
</file>